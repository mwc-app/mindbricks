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  <p:sldMasterId id="2147483749" r:id="rId2"/>
  </p:sldMasterIdLst>
  <p:sldIdLst>
    <p:sldId id="256" r:id="rId3"/>
    <p:sldId id="257" r:id="rId4"/>
    <p:sldId id="284" r:id="rId5"/>
    <p:sldId id="287" r:id="rId6"/>
    <p:sldId id="286" r:id="rId7"/>
    <p:sldId id="279" r:id="rId8"/>
    <p:sldId id="272" r:id="rId9"/>
    <p:sldId id="27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DAFC14-40D6-524A-8ADA-01CD5465BF9D}" v="53" dt="2025-12-16T07:54:17.142"/>
    <p1510:client id="{97314C23-0539-EB4F-0F8D-258A8CC6B933}" v="2259" dt="2025-12-16T08:48:49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48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97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5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4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7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7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1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5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77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80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00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00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79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22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81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75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252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86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39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900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6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18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5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EB8A1B5F-0801-4AFF-A489-335B6A851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6201B52-6441-4DBA-BACE-235977581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89DF3DBB-17DD-4058-A944-5578E18A0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3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 idx="4294967295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MindBricks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4294967295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cap="all" spc="200">
                <a:solidFill>
                  <a:srgbClr val="FFFFFF"/>
                </a:solidFill>
                <a:latin typeface="+mj-lt"/>
              </a:rPr>
              <a:t>Group: Luca Beltrami, Luca di Bello, Marta Safarova</a:t>
            </a:r>
            <a:endParaRPr lang="en-US" sz="2400" b="1" u="sng" cap="all" spc="20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4E7394-244A-D8E3-9504-8FB2A6256D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03934"/>
            <a:ext cx="12187238" cy="858838"/>
          </a:xfrm>
        </p:spPr>
        <p:txBody>
          <a:bodyPr>
            <a:normAutofit/>
          </a:bodyPr>
          <a:lstStyle/>
          <a:p>
            <a:pPr algn="ctr"/>
            <a:r>
              <a:rPr lang="it-IT" sz="5400" b="1" err="1">
                <a:latin typeface="Sabon Next LT"/>
                <a:cs typeface="Quire Sans"/>
              </a:rPr>
              <a:t>Our</a:t>
            </a:r>
            <a:r>
              <a:rPr lang="it-IT" sz="5400" b="1">
                <a:latin typeface="Sabon Next LT"/>
                <a:cs typeface="Quire Sans"/>
              </a:rPr>
              <a:t> Goal</a:t>
            </a:r>
            <a:endParaRPr lang="it-IT" sz="5400" b="1">
              <a:latin typeface="Sabon Next LT"/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DD0944-1A94-03A6-20FF-49A6ADC16DA5}"/>
              </a:ext>
            </a:extLst>
          </p:cNvPr>
          <p:cNvSpPr txBox="1"/>
          <p:nvPr/>
        </p:nvSpPr>
        <p:spPr>
          <a:xfrm>
            <a:off x="1037617" y="1345250"/>
            <a:ext cx="10116765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"</a:t>
            </a:r>
            <a:r>
              <a:rPr lang="en-US" sz="2800" err="1">
                <a:solidFill>
                  <a:schemeClr val="tx1">
                    <a:lumMod val="75000"/>
                    <a:lumOff val="25000"/>
                  </a:schemeClr>
                </a:solidFill>
              </a:rPr>
              <a:t>MindBricks</a:t>
            </a: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turns invisible environmental factors into actionable insight to boost your productivity" 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14787-A1B8-6F9A-3867-D5391F357D07}"/>
              </a:ext>
            </a:extLst>
          </p:cNvPr>
          <p:cNvSpPr txBox="1"/>
          <p:nvPr/>
        </p:nvSpPr>
        <p:spPr>
          <a:xfrm>
            <a:off x="1037617" y="2943272"/>
            <a:ext cx="10116765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 i="0" u="none" strike="noStrike" baseline="0">
                <a:solidFill>
                  <a:srgbClr val="404040"/>
                </a:solidFill>
                <a:latin typeface="Calibri"/>
              </a:rPr>
              <a:t>We combine a</a:t>
            </a:r>
            <a:r>
              <a:rPr lang="en-US" sz="2800">
                <a:solidFill>
                  <a:srgbClr val="404040"/>
                </a:solidFill>
                <a:latin typeface="Calibri"/>
              </a:rPr>
              <a:t> </a:t>
            </a:r>
            <a:r>
              <a:rPr lang="en-US" sz="2800" b="1">
                <a:solidFill>
                  <a:srgbClr val="404040"/>
                </a:solidFill>
                <a:latin typeface="Calibri"/>
              </a:rPr>
              <a:t>Pomodoro timer</a:t>
            </a:r>
            <a:r>
              <a:rPr lang="en-US" sz="2800" b="0" i="0" u="none" strike="noStrike" baseline="0">
                <a:solidFill>
                  <a:srgbClr val="404040"/>
                </a:solidFill>
                <a:latin typeface="Calibri"/>
              </a:rPr>
              <a:t> with </a:t>
            </a:r>
            <a:r>
              <a:rPr lang="en-US" sz="2800" b="1" i="0" u="none" strike="noStrike" baseline="0">
                <a:solidFill>
                  <a:srgbClr val="404040"/>
                </a:solidFill>
                <a:latin typeface="Calibri"/>
              </a:rPr>
              <a:t>device sensing</a:t>
            </a:r>
            <a:r>
              <a:rPr lang="en-US" sz="2800" b="0" i="0" u="none" strike="noStrike" baseline="0">
                <a:solidFill>
                  <a:srgbClr val="404040"/>
                </a:solidFill>
                <a:latin typeface="Calibri"/>
              </a:rPr>
              <a:t> (light, noise, and phone usage) to </a:t>
            </a:r>
            <a:r>
              <a:rPr lang="en-US" sz="2800" b="1" i="0" u="none" strike="noStrike" baseline="0">
                <a:solidFill>
                  <a:srgbClr val="404040"/>
                </a:solidFill>
                <a:latin typeface="Calibri"/>
              </a:rPr>
              <a:t>understand the conditions that help you focus best</a:t>
            </a:r>
            <a:r>
              <a:rPr lang="en-US" sz="2800" b="0" i="0" u="none" strike="noStrike" baseline="0">
                <a:solidFill>
                  <a:srgbClr val="404040"/>
                </a:solidFill>
                <a:latin typeface="Calibri"/>
              </a:rPr>
              <a:t>. </a:t>
            </a:r>
            <a:r>
              <a:rPr lang="en-US" sz="2800" b="0" i="0">
                <a:latin typeface="Calibri"/>
              </a:rPr>
              <a:t>​</a:t>
            </a:r>
          </a:p>
          <a:p>
            <a:pPr algn="l" rtl="0"/>
            <a:r>
              <a:rPr lang="en-US" sz="2800" b="0" i="0">
                <a:latin typeface="Calibri"/>
              </a:rPr>
              <a:t>​</a:t>
            </a:r>
            <a:endParaRPr lang="en-US" sz="2800" b="0" i="0">
              <a:latin typeface="Calibri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Data-driven personal study timeline</a:t>
            </a: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City-building game</a:t>
            </a: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Insightful visualizations</a:t>
            </a:r>
          </a:p>
          <a:p>
            <a:pPr algn="ctr"/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756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6EC8D8-5E7A-B54B-5AD9-11EE4A208A6F}"/>
              </a:ext>
            </a:extLst>
          </p:cNvPr>
          <p:cNvSpPr txBox="1">
            <a:spLocks/>
          </p:cNvSpPr>
          <p:nvPr/>
        </p:nvSpPr>
        <p:spPr>
          <a:xfrm>
            <a:off x="1064623" y="1459292"/>
            <a:ext cx="10058400" cy="4785359"/>
          </a:xfrm>
          <a:prstGeom prst="rect">
            <a:avLst/>
          </a:prstGeom>
        </p:spPr>
        <p:txBody>
          <a:bodyPr vert="horz" lIns="0" tIns="45720" rIns="0" bIns="45720" rtlCol="0" anchor="t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Pomodoro timer app =&gt; (25m study + short breaks) x4 times + longer break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Background sensor sampling (foreground service)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Noise (background)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Light level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Number of phone pick-ups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Mood + Perceived productivity questionnaire = "focus score" (0-100)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City building game: shop + big world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Visualizations: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Generated Daily schedule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900">
                <a:ea typeface="Calibri" panose="020F0502020204030204"/>
                <a:cs typeface="Calibri" panose="020F0502020204030204"/>
              </a:rPr>
              <a:t>Average weekly focus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Study Streak Calendar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Focus score heatmap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Focus time distribution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…..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200660" lvl="1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819048-B269-30CE-D47C-A492D9B520CE}"/>
              </a:ext>
            </a:extLst>
          </p:cNvPr>
          <p:cNvSpPr>
            <a:spLocks noGrp="1"/>
          </p:cNvSpPr>
          <p:nvPr/>
        </p:nvSpPr>
        <p:spPr>
          <a:xfrm>
            <a:off x="1064623" y="324703"/>
            <a:ext cx="10058400" cy="10044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Calibri Light"/>
                <a:cs typeface="Calibri Light"/>
              </a:rPr>
              <a:t>How does it work?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4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A124-91BE-F7AC-FAA2-50A227EB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Questionnaires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6E1EF-E5E1-0472-BFAE-B3C5D2400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After </a:t>
            </a:r>
            <a:r>
              <a:rPr lang="en-US" b="1">
                <a:ea typeface="Calibri"/>
                <a:cs typeface="Calibri"/>
              </a:rPr>
              <a:t>EVERY</a:t>
            </a:r>
            <a:r>
              <a:rPr lang="en-US">
                <a:ea typeface="Calibri"/>
                <a:cs typeface="Calibri"/>
              </a:rPr>
              <a:t> session...</a:t>
            </a:r>
          </a:p>
          <a:p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Engagement</a:t>
            </a: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Alertness and Vitality</a:t>
            </a: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Satisfaction</a:t>
            </a: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Motivation</a:t>
            </a: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US">
                <a:ea typeface="Calibri"/>
                <a:cs typeface="Calibri"/>
              </a:rPr>
              <a:t>Anticipation</a:t>
            </a:r>
          </a:p>
          <a:p>
            <a:pPr marL="742950" lvl="1" indent="-285750">
              <a:buFont typeface="Courier New" panose="020F0502020204030204" pitchFamily="34" charset="0"/>
              <a:buChar char="o"/>
            </a:pPr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"I want to study more!"</a:t>
            </a:r>
          </a:p>
          <a:p>
            <a:pPr marL="285750" indent="-285750">
              <a:buFont typeface="Arial" panose="020F0502020204030204" pitchFamily="34" charset="0"/>
              <a:buChar char="•"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7" name="Picture 6" descr="A screenshot of a screenshot of a video game&#10;&#10;AI-generated content may be incorrect.">
            <a:extLst>
              <a:ext uri="{FF2B5EF4-FFF2-40B4-BE49-F238E27FC236}">
                <a16:creationId xmlns:a16="http://schemas.microsoft.com/office/drawing/2014/main" id="{84AD1CC4-5A22-4DDF-0255-94C2B2ED2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42" y="351719"/>
            <a:ext cx="2771775" cy="6143625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20AB6A3E-33E1-102D-3046-64547A85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94" y="359127"/>
            <a:ext cx="2771775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0946F-5EE9-8BED-5BAD-1C9350DF17C5}"/>
              </a:ext>
            </a:extLst>
          </p:cNvPr>
          <p:cNvSpPr txBox="1"/>
          <p:nvPr/>
        </p:nvSpPr>
        <p:spPr>
          <a:xfrm>
            <a:off x="3301834" y="2704220"/>
            <a:ext cx="558799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800" b="1">
                <a:ea typeface="Calibri"/>
                <a:cs typeface="Calibri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85493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A1786EF-D915-847B-484E-ECB680E9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254000"/>
            <a:ext cx="2860323" cy="6350000"/>
          </a:xfrm>
          <a:prstGeom prst="rect">
            <a:avLst/>
          </a:prstGeom>
        </p:spPr>
      </p:pic>
      <p:pic>
        <p:nvPicPr>
          <p:cNvPr id="3" name="Picture 2" descr="Screens screenshot of a game&#10;&#10;AI-generated content may be incorrect.">
            <a:extLst>
              <a:ext uri="{FF2B5EF4-FFF2-40B4-BE49-F238E27FC236}">
                <a16:creationId xmlns:a16="http://schemas.microsoft.com/office/drawing/2014/main" id="{5394A1FD-10A8-FBDA-6087-6D16E6DEE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142" y="237067"/>
            <a:ext cx="2865967" cy="6366934"/>
          </a:xfrm>
          <a:prstGeom prst="rect">
            <a:avLst/>
          </a:prstGeom>
        </p:spPr>
      </p:pic>
      <p:pic>
        <p:nvPicPr>
          <p:cNvPr id="4" name="Picture 3" descr="Screenshot of a game&#10;&#10;AI-generated content may be incorrect.">
            <a:extLst>
              <a:ext uri="{FF2B5EF4-FFF2-40B4-BE49-F238E27FC236}">
                <a16:creationId xmlns:a16="http://schemas.microsoft.com/office/drawing/2014/main" id="{BF3F9963-2EF3-4AB7-2E37-691F2096D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101" y="254000"/>
            <a:ext cx="2832101" cy="636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93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707E2-71E3-CB14-FADF-55FA976D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490945"/>
            <a:ext cx="3156858" cy="2449286"/>
          </a:xfrm>
        </p:spPr>
        <p:txBody>
          <a:bodyPr>
            <a:normAutofit/>
          </a:bodyPr>
          <a:lstStyle/>
          <a:p>
            <a:r>
              <a:rPr lang="en-US">
                <a:ea typeface="Calibri Light"/>
                <a:cs typeface="Calibri Light"/>
              </a:rPr>
              <a:t>Project management:</a:t>
            </a:r>
            <a:br>
              <a:rPr lang="en-US">
                <a:ea typeface="Calibri Light"/>
                <a:cs typeface="Calibri Light"/>
              </a:rPr>
            </a:br>
            <a:br>
              <a:rPr lang="en-US">
                <a:ea typeface="Calibri Light"/>
                <a:cs typeface="Calibri Light"/>
              </a:rPr>
            </a:br>
            <a:r>
              <a:rPr lang="en-US" b="1">
                <a:ea typeface="Calibri Light"/>
                <a:cs typeface="Calibri Light"/>
              </a:rPr>
              <a:t>GitHub Projects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BE93F-45DD-DC75-D154-4CA67A44F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1629" y="3339737"/>
            <a:ext cx="2677886" cy="28239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(project is public!)</a:t>
            </a:r>
            <a:endParaRPr lang="en-US"/>
          </a:p>
        </p:txBody>
      </p:sp>
      <p:pic>
        <p:nvPicPr>
          <p:cNvPr id="7" name="Picture 6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94C51EC7-5DE3-01FB-B4F2-BCAF1B36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618" y="333376"/>
            <a:ext cx="2781300" cy="5629275"/>
          </a:xfrm>
          <a:prstGeom prst="rect">
            <a:avLst/>
          </a:prstGeom>
        </p:spPr>
      </p:pic>
      <p:pic>
        <p:nvPicPr>
          <p:cNvPr id="8" name="Picture 7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E206CBB1-BB37-7E50-0806-861C04C1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79" y="911679"/>
            <a:ext cx="2667000" cy="5629275"/>
          </a:xfrm>
          <a:prstGeom prst="rect">
            <a:avLst/>
          </a:prstGeom>
        </p:spPr>
      </p:pic>
      <p:pic>
        <p:nvPicPr>
          <p:cNvPr id="9" name="Picture 8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F5F1C3E6-DCFF-FA59-B2AC-5E1FD171E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26" y="1440997"/>
            <a:ext cx="2695575" cy="5629275"/>
          </a:xfrm>
          <a:prstGeom prst="rect">
            <a:avLst/>
          </a:prstGeom>
        </p:spPr>
      </p:pic>
      <p:pic>
        <p:nvPicPr>
          <p:cNvPr id="13" name="Immagine 3" descr="Immagine che contiene testo, numer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E33F58F4-4B29-5B06-7952-89A0E4942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700" y="1917051"/>
            <a:ext cx="2526412" cy="5410611"/>
          </a:xfrm>
          <a:prstGeom prst="rect">
            <a:avLst/>
          </a:prstGeom>
        </p:spPr>
      </p:pic>
      <p:pic>
        <p:nvPicPr>
          <p:cNvPr id="11" name="Immagine 2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96D11F37-3650-1FF1-F086-95C1DF40E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3222" y="2368809"/>
            <a:ext cx="2613407" cy="5456320"/>
          </a:xfrm>
          <a:prstGeom prst="rect">
            <a:avLst/>
          </a:prstGeom>
        </p:spPr>
      </p:pic>
      <p:pic>
        <p:nvPicPr>
          <p:cNvPr id="15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2F56BC3-7E6E-C3E8-7C84-FA0CA87173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940" y="2940307"/>
            <a:ext cx="2815653" cy="5456321"/>
          </a:xfrm>
          <a:prstGeom prst="rect">
            <a:avLst/>
          </a:prstGeom>
        </p:spPr>
      </p:pic>
      <p:pic>
        <p:nvPicPr>
          <p:cNvPr id="17" name="Immagine 2" descr="Immagine che contiene testo, Carattere, numero, schermata&#10;&#10;Il contenuto generato dall'IA potrebbe non essere corretto.">
            <a:extLst>
              <a:ext uri="{FF2B5EF4-FFF2-40B4-BE49-F238E27FC236}">
                <a16:creationId xmlns:a16="http://schemas.microsoft.com/office/drawing/2014/main" id="{427308A3-47A8-1557-9BFE-44B3C6E403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7464" y="3309881"/>
            <a:ext cx="2778348" cy="5718227"/>
          </a:xfrm>
          <a:prstGeom prst="rect">
            <a:avLst/>
          </a:prstGeom>
        </p:spPr>
      </p:pic>
      <p:pic>
        <p:nvPicPr>
          <p:cNvPr id="18" name="Picture 1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C44E69B0-B042-D923-FCE7-9CFC6E63DB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79" y="3725635"/>
            <a:ext cx="2389415" cy="238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90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B0785-C880-DD65-1340-18E65D413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B50B84-2720-69CE-78FA-855B3F0AD9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44" y="2573001"/>
            <a:ext cx="12187238" cy="858838"/>
          </a:xfrm>
        </p:spPr>
        <p:txBody>
          <a:bodyPr>
            <a:normAutofit/>
          </a:bodyPr>
          <a:lstStyle/>
          <a:p>
            <a:pPr algn="ctr"/>
            <a:r>
              <a:rPr lang="it-IT" sz="5400" b="1">
                <a:latin typeface="Sabon Next LT"/>
                <a:cs typeface="Quire Sans"/>
              </a:rPr>
              <a:t>Thanks!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1760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WC_Midterm_Presentation" id="{D5828AF9-FA7F-8540-95F9-432F42296C41}" vid="{8A24D39C-32EA-364D-92C4-A4FAD95334E5}"/>
    </a:ext>
  </a:extLst>
</a:theme>
</file>

<file path=ppt/theme/theme2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WC_Midterm_Presentation" id="{D5828AF9-FA7F-8540-95F9-432F42296C41}" vid="{2A4939D0-53ED-EB47-9CAD-9E78D3D47B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0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Retrospect</vt:lpstr>
      <vt:lpstr>BrushVTI</vt:lpstr>
      <vt:lpstr>MindBricks</vt:lpstr>
      <vt:lpstr>Our Goal</vt:lpstr>
      <vt:lpstr>PowerPoint Presentation</vt:lpstr>
      <vt:lpstr>Questionnaires</vt:lpstr>
      <vt:lpstr>PowerPoint Presentation</vt:lpstr>
      <vt:lpstr>PowerPoint Presentation</vt:lpstr>
      <vt:lpstr>Project management:  GitHub Projects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2025-12-01T10:37:01Z</dcterms:created>
  <dcterms:modified xsi:type="dcterms:W3CDTF">2026-01-22T15:35:38Z</dcterms:modified>
</cp:coreProperties>
</file>